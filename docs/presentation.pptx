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Datadog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Manual to Automated: Enterprise Monitoring at Scale</a:t>
            </a:r>
          </a:p>
          <a:p>
            <a:pPr lvl="0" indent="0" marL="0">
              <a:buNone/>
            </a:pPr>
            <a:r>
              <a:rPr b="1"/>
              <a:t>Presenter</a:t>
            </a:r>
            <a:r>
              <a:rPr/>
              <a:t>: [Your Name] </a:t>
            </a:r>
            <a:r>
              <a:rPr b="1"/>
              <a:t>Date</a:t>
            </a:r>
            <a:r>
              <a:rPr/>
              <a:t>: [Date]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Manual Deployment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</a:t>
            </a:r>
            <a:r>
              <a:rPr/>
              <a:t>: - ⏱️ </a:t>
            </a:r>
            <a:r>
              <a:rPr b="1"/>
              <a:t>30-60 minutes per server</a:t>
            </a:r>
            <a:r>
              <a:rPr/>
              <a:t> - manual installation and configuration - ❌ </a:t>
            </a:r>
            <a:r>
              <a:rPr b="1"/>
              <a:t>5-10% error rate</a:t>
            </a:r>
            <a:r>
              <a:rPr/>
              <a:t> - misconfigurations requiring rework - 📊 </a:t>
            </a:r>
            <a:r>
              <a:rPr b="1"/>
              <a:t>Inconsistent configs</a:t>
            </a:r>
            <a:r>
              <a:rPr/>
              <a:t> - different settings across environments - 🔄 </a:t>
            </a:r>
            <a:r>
              <a:rPr b="1"/>
              <a:t>Not scalable</a:t>
            </a:r>
            <a:r>
              <a:rPr/>
              <a:t> - deployment time increases linearly with host count - 📝 </a:t>
            </a:r>
            <a:r>
              <a:rPr b="1"/>
              <a:t>No audit trail</a:t>
            </a:r>
            <a:r>
              <a:rPr/>
              <a:t> - difficult to track changes - 🔐 </a:t>
            </a:r>
            <a:r>
              <a:rPr b="1"/>
              <a:t>Security risks</a:t>
            </a:r>
            <a:r>
              <a:rPr/>
              <a:t> - shared credentials, manual server access</a:t>
            </a:r>
          </a:p>
          <a:p>
            <a:pPr lvl="0" indent="0" marL="0">
              <a:buNone/>
            </a:pPr>
            <a:r>
              <a:rPr b="1"/>
              <a:t>For 100 servers</a:t>
            </a:r>
            <a:r>
              <a:rPr/>
              <a:t>: - 50-100 hours of manual work - $5,000-10,000 in engineering costs - 1-2 weeks deployment window - 5-10 configuration errors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Cost of Manual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Annual Impact (100 servers, 4 deployments/year)</a:t>
            </a:r>
          </a:p>
          <a:p>
            <a:pPr lvl="0" indent="0" marL="0">
              <a:buNone/>
            </a:pPr>
            <a:r>
              <a:rPr b="1"/>
              <a:t>Time Wasted</a:t>
            </a:r>
            <a:r>
              <a:rPr/>
              <a:t>: 200-400 hours of engineering time</a:t>
            </a:r>
          </a:p>
          <a:p>
            <a:pPr lvl="0" indent="0" marL="0">
              <a:buNone/>
            </a:pPr>
            <a:r>
              <a:rPr b="1"/>
              <a:t>Cost</a:t>
            </a:r>
            <a:r>
              <a:rPr/>
              <a:t>: $20,000-40,000 in unnecessary labor</a:t>
            </a:r>
          </a:p>
          <a:p>
            <a:pPr lvl="0" indent="0" marL="0">
              <a:buNone/>
            </a:pPr>
            <a:r>
              <a:rPr b="1"/>
              <a:t>Risk</a:t>
            </a:r>
            <a:r>
              <a:rPr/>
              <a:t>: Delayed incident detection from incomplete monitoring</a:t>
            </a:r>
          </a:p>
          <a:p>
            <a:pPr lvl="0" indent="0" marL="0">
              <a:buNone/>
            </a:pPr>
            <a:r>
              <a:rPr b="1"/>
              <a:t>Compliance</a:t>
            </a:r>
            <a:r>
              <a:rPr/>
              <a:t>: Inconsistent configurations creating audit risks</a:t>
            </a:r>
          </a:p>
          <a:p>
            <a:pPr lvl="0" indent="0" marL="0">
              <a:buNone/>
            </a:pPr>
            <a:r>
              <a:rPr b="1"/>
              <a:t>The business cost of slow monitoring deployment is hidden but massive.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Solution: Automated 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Developer → Git Commit → Automated Pipeline → Monitored Infrastructure
           (30 seconds)     (15 minutes)        (100% coverage)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Infrastructure as Code</a:t>
            </a:r>
            <a:r>
              <a:rPr/>
              <a:t> (Terraform) - Define infrastructure declaratively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Configuration Management</a:t>
            </a:r>
            <a:r>
              <a:rPr/>
              <a:t> (Ansible) - Deploy agents consistently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CI/CD Automation</a:t>
            </a:r>
            <a:r>
              <a:rPr/>
              <a:t> (GitHub Actions) - Orchestrate end-to-end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GitOps Workflow</a:t>
            </a:r>
            <a:r>
              <a:rPr/>
              <a:t> - All changes tracked in version control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5-Step Automated Process</a:t>
            </a:r>
          </a:p>
          <a:p>
            <a:pPr lvl="0" indent="-342900" marL="342900">
              <a:buAutoNum type="arabicPeriod"/>
            </a:pPr>
            <a:r>
              <a:rPr b="1"/>
              <a:t>Developer</a:t>
            </a:r>
            <a:r>
              <a:rPr/>
              <a:t> updates configuration file</a:t>
            </a:r>
          </a:p>
          <a:p>
            <a:pPr lvl="0" indent="-342900" marL="342900">
              <a:buAutoNum type="arabicPeriod"/>
            </a:pPr>
            <a:r>
              <a:rPr b="1"/>
              <a:t>Commits</a:t>
            </a:r>
            <a:r>
              <a:rPr/>
              <a:t> to Git repository</a:t>
            </a:r>
          </a:p>
          <a:p>
            <a:pPr lvl="0" indent="-342900" marL="342900">
              <a:buAutoNum type="arabicPeriod"/>
            </a:pPr>
            <a:r>
              <a:rPr b="1"/>
              <a:t>GitHub Actions</a:t>
            </a:r>
            <a:r>
              <a:rPr/>
              <a:t> automatically triggers</a:t>
            </a:r>
          </a:p>
          <a:p>
            <a:pPr lvl="0" indent="-342900" marL="342900">
              <a:buAutoNum type="arabicPeriod"/>
            </a:pPr>
            <a:r>
              <a:rPr b="1"/>
              <a:t>Terraform</a:t>
            </a:r>
            <a:r>
              <a:rPr/>
              <a:t> provisions infrastructure</a:t>
            </a:r>
          </a:p>
          <a:p>
            <a:pPr lvl="0" indent="-342900" marL="342900">
              <a:buAutoNum type="arabicPeriod"/>
            </a:pPr>
            <a:r>
              <a:rPr b="1"/>
              <a:t>Ansible</a:t>
            </a:r>
            <a:r>
              <a:rPr/>
              <a:t> deploys and configures Datadog agents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Complete monitoring infrastructure in 15 minutes</a:t>
            </a:r>
          </a:p>
          <a:p>
            <a:pPr lvl="0" indent="0" marL="0">
              <a:buNone/>
            </a:pPr>
            <a:r>
              <a:rPr b="1"/>
              <a:t>Manual intervention</a:t>
            </a:r>
            <a:r>
              <a:rPr/>
              <a:t>: Zero</a:t>
            </a:r>
          </a:p>
          <a:p>
            <a:pPr lvl="0" indent="0" marL="0">
              <a:buNone/>
            </a:pPr>
            <a:r>
              <a:rPr b="1"/>
              <a:t>Audit trail</a:t>
            </a:r>
            <a:r>
              <a:rPr/>
              <a:t>: Complete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Demo: Watch It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You’ll See</a:t>
            </a:r>
          </a:p>
          <a:p>
            <a:pPr lvl="0" indent="-342900" marL="342900">
              <a:buAutoNum type="arabicPeriod"/>
            </a:pPr>
            <a:r>
              <a:rPr b="1"/>
              <a:t>Make a change</a:t>
            </a:r>
            <a:r>
              <a:rPr/>
              <a:t> in Git repository</a:t>
            </a:r>
          </a:p>
          <a:p>
            <a:pPr lvl="0" indent="-342900" marL="342900">
              <a:buAutoNum type="arabicPeriod"/>
            </a:pPr>
            <a:r>
              <a:rPr b="1"/>
              <a:t>Push to GitHub</a:t>
            </a:r>
            <a:r>
              <a:rPr/>
              <a:t> - triggers automated workflow</a:t>
            </a:r>
          </a:p>
          <a:p>
            <a:pPr lvl="0" indent="-342900" marL="342900">
              <a:buAutoNum type="arabicPeriod"/>
            </a:pPr>
            <a:r>
              <a:rPr b="1"/>
              <a:t>Watch GitHub Actions</a:t>
            </a:r>
            <a:r>
              <a:rPr/>
              <a:t> deploy infrastructure</a:t>
            </a:r>
          </a:p>
          <a:p>
            <a:pPr lvl="0" indent="-342900" marL="342900">
              <a:buAutoNum type="arabicPeriod"/>
            </a:pPr>
            <a:r>
              <a:rPr b="1"/>
              <a:t>See Ansible</a:t>
            </a:r>
            <a:r>
              <a:rPr/>
              <a:t> configure Datadog agents</a:t>
            </a:r>
          </a:p>
          <a:p>
            <a:pPr lvl="0" indent="-342900" marL="342900">
              <a:buAutoNum type="arabicPeriod"/>
            </a:pPr>
            <a:r>
              <a:rPr b="1"/>
              <a:t>View results</a:t>
            </a:r>
            <a:r>
              <a:rPr/>
              <a:t> in Datadog UI - hosts reporting metrics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~15 minutes from commit to monitoring</a:t>
            </a:r>
          </a:p>
          <a:p>
            <a:pPr lvl="0" indent="0" marL="0">
              <a:buNone/>
            </a:pPr>
            <a:r>
              <a:rPr b="1"/>
              <a:t>Manual steps</a:t>
            </a:r>
            <a:r>
              <a:rPr/>
              <a:t>: 0</a:t>
            </a:r>
          </a:p>
          <a:p>
            <a:pPr lvl="0" indent="0" marL="0">
              <a:buNone/>
            </a:pPr>
            <a:r>
              <a:rPr b="1"/>
              <a:t>Hosts affected</a:t>
            </a:r>
            <a:r>
              <a:rPr/>
              <a:t>: All (3, 30, or 3,000)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datadog_pres/
├── terraform/          # Infrastructure as Code
│   ├── main.tf        # VPC, EC2, Load Balancer
│   ├── variables.tf   # instance_count = 3 (or 3000!)
│   └── environments/  # dev, test, prod configs
│
├── ansible/           # Configuration Management
│   ├── roles/
│   │   └── datadog-agent/  # Works on RedHat, Debian, Windows
│   └── playbooks/
│       └── deploy-datadog.yml
│
└── .github/workflows/ # CI/CD Automation
    ├── deploy-dev.yml
    ├── deploy-test.yml
    └── deploy-prod.yml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Triggering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Make a Change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Edit configuration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terraform/environments/dev/terraform.tfvars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"Update dev environment for demo"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main</a:t>
            </a:r>
          </a:p>
          <a:p>
            <a:pPr lvl="0" indent="0" marL="0">
              <a:buNone/>
            </a:pPr>
            <a:r>
              <a:rPr b="1"/>
              <a:t>This single git push deploys monitoring to all servers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GitHub Actions in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Workflow Steps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Checkout code</a:t>
            </a:r>
            <a:r>
              <a:rPr/>
              <a:t> from repository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Authenticate to AWS</a:t>
            </a:r>
            <a:r>
              <a:rPr/>
              <a:t> (OIDC - no long-lived credentials)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Terraform Init</a:t>
            </a:r>
            <a:r>
              <a:rPr/>
              <a:t> - connect to remote state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Terraform Plan</a:t>
            </a:r>
            <a:r>
              <a:rPr/>
              <a:t> - calculate changes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Terraform Apply</a:t>
            </a:r>
            <a:r>
              <a:rPr/>
              <a:t> - provision infrastructure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Generate Ansible Inventory</a:t>
            </a:r>
            <a:r>
              <a:rPr/>
              <a:t> - from Terraform outputs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Deploy Datadog Agents</a:t>
            </a:r>
            <a:r>
              <a:rPr/>
              <a:t> - via Ansible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Verify Deployment</a:t>
            </a:r>
            <a:r>
              <a:rPr/>
              <a:t> - check agent status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Results in Datadog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See</a:t>
            </a:r>
          </a:p>
          <a:p>
            <a:pPr lvl="0" indent="0" marL="0">
              <a:buNone/>
            </a:pPr>
            <a:r>
              <a:rPr/>
              <a:t>✅ All hosts reporting to Datadog US5</a:t>
            </a:r>
          </a:p>
          <a:p>
            <a:pPr lvl="0" indent="0" marL="0">
              <a:buNone/>
            </a:pPr>
            <a:r>
              <a:rPr/>
              <a:t>✅ System metrics flowing (CPU, memory, disk, network)</a:t>
            </a:r>
          </a:p>
          <a:p>
            <a:pPr lvl="0" indent="0" marL="0">
              <a:buNone/>
            </a:pPr>
            <a:r>
              <a:rPr/>
              <a:t>✅ Process monitoring active</a:t>
            </a:r>
          </a:p>
          <a:p>
            <a:pPr lvl="0" indent="0" marL="0">
              <a:buNone/>
            </a:pPr>
            <a:r>
              <a:rPr/>
              <a:t>✅ Logs collection enabled</a:t>
            </a:r>
          </a:p>
          <a:p>
            <a:pPr lvl="0" indent="0" marL="0">
              <a:buNone/>
            </a:pPr>
            <a:r>
              <a:rPr/>
              <a:t>✅ APM ready for application tracing</a:t>
            </a:r>
          </a:p>
          <a:p>
            <a:pPr lvl="0" indent="0" marL="0">
              <a:buNone/>
            </a:pPr>
            <a:r>
              <a:rPr/>
              <a:t>✅ Tags applied correctly: - </a:t>
            </a:r>
            <a:r>
              <a:rPr>
                <a:latin typeface="Courier"/>
              </a:rPr>
              <a:t>env:dev</a:t>
            </a:r>
            <a:r>
              <a:rPr/>
              <a:t> - </a:t>
            </a:r>
            <a:r>
              <a:rPr>
                <a:latin typeface="Courier"/>
              </a:rPr>
              <a:t>role:webserver</a:t>
            </a:r>
            <a:r>
              <a:rPr/>
              <a:t> - </a:t>
            </a:r>
            <a:r>
              <a:rPr>
                <a:latin typeface="Courier"/>
              </a:rPr>
              <a:t>managed:ansible</a:t>
            </a:r>
          </a:p>
          <a:p>
            <a:pPr lvl="0" indent="0" marL="0">
              <a:buNone/>
            </a:pPr>
            <a:r>
              <a:rPr b="1"/>
              <a:t>Time from commit to monitoring</a:t>
            </a:r>
            <a:r>
              <a:rPr/>
              <a:t>: &lt;15 minutes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┌─────────────┐
│   GitHub    │ ← Developer commits change
└──────┬──────┘
       │
       ▼
┌─────────────────┐
│ GitHub Actions  │ ← Automated pipeline
└──────┬──────────┘
       │
       ├─→ Terraform ─→ AWS Infrastructure (EC2, VPC, ALB)
       │
       └─→ Ansible ──→ Configure Datadog Agents
                          │
                          ▼
                  ┌──────────────┐
                  │   Datadog    │ ← Metrics, Logs, Traces
                  │     US5      │
                  └──────────────┘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Scalability: Same Code, Any Size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Deployment Time by Infrastructure Size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5-10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50-100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99%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500-1,000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99.9%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Impractical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Only possible automated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Marginal cost per additional host</a:t>
            </a:r>
            <a:r>
              <a:rPr/>
              <a:t>: - Manual: $50-100 (engineer time) - Automated: $0.01 (computation)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Scalability: Multi-Stack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Platforms Supported</a:t>
            </a:r>
          </a:p>
          <a:p>
            <a:pPr lvl="0" indent="0" marL="0">
              <a:buNone/>
            </a:pPr>
            <a:r>
              <a:rPr b="1"/>
              <a:t>Operating Systems</a:t>
            </a:r>
            <a:r>
              <a:rPr/>
              <a:t>: - ✅ RedHat / CentOS / Amazon Linux - ✅ Ubuntu / Debian - ✅ Windows Server 2016+</a:t>
            </a:r>
          </a:p>
          <a:p>
            <a:pPr lvl="0" indent="0" marL="0">
              <a:buNone/>
            </a:pPr>
            <a:r>
              <a:rPr b="1"/>
              <a:t>Infrastructure</a:t>
            </a:r>
            <a:r>
              <a:rPr/>
              <a:t>: - ✅ Virtual Machines (EC2, Azure VMs, GCE) - ✅ Containers (Docker) - ✅ Kubernetes</a:t>
            </a:r>
          </a:p>
          <a:p>
            <a:pPr lvl="0" indent="0" marL="0">
              <a:buNone/>
            </a:pPr>
            <a:r>
              <a:rPr b="1"/>
              <a:t>Cloud Providers</a:t>
            </a:r>
            <a:r>
              <a:rPr/>
              <a:t>: - ✅ AWS (current implementation) - ✅ Azure (same Terraform/Ansible pattern) - ✅ GCP (same Terraform/Ansible pattern) - ✅ On-Premises (Ansible works everywhere)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Quantified Benefits: Time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Deployment Time Reduction</a:t>
            </a:r>
          </a:p>
          <a:p>
            <a:pPr lvl="0" indent="0" marL="0">
              <a:buNone/>
            </a:pPr>
            <a:r>
              <a:rPr b="1"/>
              <a:t>Single deployment (100 servers)</a:t>
            </a:r>
            <a:r>
              <a:rPr/>
              <a:t>: - </a:t>
            </a:r>
            <a:r>
              <a:rPr b="1"/>
              <a:t>Before</a:t>
            </a:r>
            <a:r>
              <a:rPr/>
              <a:t>: 50-100 hours - </a:t>
            </a:r>
            <a:r>
              <a:rPr b="1"/>
              <a:t>After</a:t>
            </a:r>
            <a:r>
              <a:rPr/>
              <a:t>: 15 minutes - </a:t>
            </a:r>
            <a:r>
              <a:rPr b="1"/>
              <a:t>Savings</a:t>
            </a:r>
            <a:r>
              <a:rPr/>
              <a:t>: 99% reduction</a:t>
            </a:r>
          </a:p>
          <a:p>
            <a:pPr lvl="0" indent="0" marL="0">
              <a:buNone/>
            </a:pPr>
            <a:r>
              <a:rPr b="1"/>
              <a:t>Annual savings</a:t>
            </a:r>
            <a:r>
              <a:rPr/>
              <a:t> (4 deployments/year): - </a:t>
            </a:r>
            <a:r>
              <a:rPr b="1"/>
              <a:t>Time</a:t>
            </a:r>
            <a:r>
              <a:rPr/>
              <a:t>: 199-399 hours recovered - </a:t>
            </a:r>
            <a:r>
              <a:rPr b="1"/>
              <a:t>Cost</a:t>
            </a:r>
            <a:r>
              <a:rPr/>
              <a:t>: $20,000-40,000 at $100/hr engineer rate</a:t>
            </a:r>
          </a:p>
          <a:p>
            <a:pPr lvl="0" indent="0" marL="0">
              <a:buNone/>
            </a:pPr>
            <a:r>
              <a:rPr b="1"/>
              <a:t>To break even</a:t>
            </a:r>
            <a:r>
              <a:rPr/>
              <a:t>: Deploy once (already saved $5,000-10,000)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Quantified Benefits: Error Reduction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Quality Improvements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Configuration 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&lt;0.1%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reduction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Deployment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93% reduction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Inconsistent configs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20-30%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100% elimination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 misconfigs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&lt;0.1%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98% reduction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Cost of errors</a:t>
            </a:r>
            <a:r>
              <a:rPr/>
              <a:t>: - Manual: $1,600 per deployment cycle - Automated: $100 per deployment cycle - </a:t>
            </a:r>
            <a:r>
              <a:rPr b="1"/>
              <a:t>Annual savings</a:t>
            </a:r>
            <a:r>
              <a:rPr/>
              <a:t>: $6,000 (4 cycles/year)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Quantified Benefits: Monitoring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Faster Incident Detection &amp; Resolution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155700"/>
                <a:gridCol w="132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 to monitoring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99% faster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MTTD</a:t>
                      </a:r>
                      <a:r>
                        <a:rPr/>
                        <a:t> (Mean Time to Detect)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15-30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1-3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70-90% reduction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MTTR</a:t>
                      </a:r>
                      <a:r>
                        <a:rPr/>
                        <a:t> (Mean Time to Resolve)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30-60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50-75% reduction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60-80%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Complete visibility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Incident cost reduction</a:t>
            </a:r>
            <a:r>
              <a:rPr/>
              <a:t>: - Average incident: $5,000-10,000 - 50% MTTR reduction = $2,500-5,000 per incident - 10 incidents/year = </a:t>
            </a:r>
            <a:r>
              <a:rPr b="1"/>
              <a:t>$25,000-50,000 saved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Investment</a:t>
            </a:r>
          </a:p>
          <a:p>
            <a:pPr lvl="0" indent="0" marL="0">
              <a:buNone/>
            </a:pPr>
            <a:r>
              <a:rPr b="1"/>
              <a:t>Initial Setup</a:t>
            </a:r>
            <a:r>
              <a:rPr/>
              <a:t> (one-time): - Terraform code: 40 hours = $4,000 - Ansible role: 40 hours = $4,000 - GitHub Actions: 20 hours = $2,000 - Testing &amp; docs: 20 hours = $2,000 - </a:t>
            </a:r>
            <a:r>
              <a:rPr b="1"/>
              <a:t>Total: $12,000</a:t>
            </a:r>
          </a:p>
          <a:p>
            <a:pPr lvl="0" indent="0" marL="0">
              <a:buNone/>
            </a:pPr>
            <a:r>
              <a:rPr b="1"/>
              <a:t>Annual Maintenance</a:t>
            </a:r>
            <a:r>
              <a:rPr/>
              <a:t>: - Updates &amp; improvements: 20 hours = $2,000 - Documentation: 10 hours = $1,000 - Training: 10 hours = $1,000 - </a:t>
            </a:r>
            <a:r>
              <a:rPr b="1"/>
              <a:t>Total: $4,000/year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ROI Analysis: Year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Savings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 time savings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$20,000-40,000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remediation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 cost reduction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$25,000-50,000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Compliance/audit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$5,000-10,000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Annual Savings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$56,000-106,000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Return</a:t>
            </a:r>
          </a:p>
          <a:p>
            <a:pPr lvl="0" indent="0" marL="0">
              <a:buNone/>
            </a:pPr>
            <a:r>
              <a:rPr b="1"/>
              <a:t>Year 1 Investment</a:t>
            </a:r>
            <a:r>
              <a:rPr/>
              <a:t>: $12,000 + $4,000 = $16,000</a:t>
            </a:r>
          </a:p>
          <a:p>
            <a:pPr lvl="0" indent="0" marL="0">
              <a:buNone/>
            </a:pPr>
            <a:r>
              <a:rPr b="1"/>
              <a:t>Year 1 Savings</a:t>
            </a:r>
            <a:r>
              <a:rPr/>
              <a:t>: $56,000-106,000</a:t>
            </a:r>
          </a:p>
          <a:p>
            <a:pPr lvl="0" indent="0" marL="0">
              <a:buNone/>
            </a:pPr>
            <a:r>
              <a:rPr b="1"/>
              <a:t>Year 1 Net ROI</a:t>
            </a:r>
            <a:r>
              <a:rPr/>
              <a:t>: $40,000-90,000</a:t>
            </a:r>
          </a:p>
          <a:p>
            <a:pPr lvl="0" indent="0" marL="0">
              <a:buNone/>
            </a:pPr>
            <a:r>
              <a:rPr b="1"/>
              <a:t>ROI Percentage</a:t>
            </a:r>
            <a:r>
              <a:rPr/>
              <a:t>: </a:t>
            </a:r>
            <a:r>
              <a:rPr b="1"/>
              <a:t>250-560%</a:t>
            </a:r>
          </a:p>
          <a:p>
            <a:pPr lvl="0" indent="0" marL="0">
              <a:buNone/>
            </a:pPr>
            <a:r>
              <a:rPr b="1"/>
              <a:t>Payback Period</a:t>
            </a:r>
            <a:r>
              <a:rPr/>
              <a:t>: </a:t>
            </a:r>
            <a:r>
              <a:rPr b="1"/>
              <a:t>2-3 months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ROI Analysis: 5-Year Total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Long-Term Value</a:t>
            </a:r>
          </a:p>
          <a:p>
            <a:pPr lvl="0" indent="0" marL="0">
              <a:buNone/>
            </a:pPr>
            <a:r>
              <a:rPr b="1"/>
              <a:t>Total Investment</a:t>
            </a:r>
            <a:r>
              <a:rPr/>
              <a:t>: - Setup: $12,000 - Maintenance (5 years): $20,000 - </a:t>
            </a:r>
            <a:r>
              <a:rPr b="1"/>
              <a:t>Total: $32,000</a:t>
            </a:r>
          </a:p>
          <a:p>
            <a:pPr lvl="0" indent="0" marL="0">
              <a:buNone/>
            </a:pPr>
            <a:r>
              <a:rPr b="1"/>
              <a:t>Total Savings</a:t>
            </a:r>
            <a:r>
              <a:rPr/>
              <a:t>: - Annual: $56,000-106,000 - 5 years: </a:t>
            </a:r>
            <a:r>
              <a:rPr b="1"/>
              <a:t>$280,000-530,000</a:t>
            </a:r>
          </a:p>
          <a:p>
            <a:pPr lvl="0" indent="0" marL="0">
              <a:buNone/>
            </a:pPr>
            <a:r>
              <a:rPr b="1"/>
              <a:t>Net Benefit</a:t>
            </a:r>
            <a:r>
              <a:rPr/>
              <a:t>: </a:t>
            </a:r>
            <a:r>
              <a:rPr b="1"/>
              <a:t>$248,000-498,000</a:t>
            </a:r>
          </a:p>
          <a:p>
            <a:pPr lvl="0" indent="0" marL="0">
              <a:buNone/>
            </a:pPr>
            <a:r>
              <a:rPr b="1"/>
              <a:t>5-Year ROI</a:t>
            </a:r>
            <a:r>
              <a:rPr/>
              <a:t>: </a:t>
            </a:r>
            <a:r>
              <a:rPr b="1"/>
              <a:t>775-1,556%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Deployment Plan: POC to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4-Phase Rollout Strategy</a:t>
            </a:r>
          </a:p>
          <a:p>
            <a:pPr lvl="0" indent="0" marL="0">
              <a:buNone/>
            </a:pPr>
            <a:r>
              <a:rPr b="1"/>
              <a:t>Phase 1: POC</a:t>
            </a:r>
            <a:r>
              <a:rPr/>
              <a:t> (Week 1-2) - Deploy to Dev environment (3 instances) - Validate technical approach - Success criteria: Zero-touch deployment working</a:t>
            </a:r>
          </a:p>
          <a:p>
            <a:pPr lvl="0" indent="0" marL="0">
              <a:buNone/>
            </a:pPr>
            <a:r>
              <a:rPr b="1"/>
              <a:t>Phase 2: Pilot</a:t>
            </a:r>
            <a:r>
              <a:rPr/>
              <a:t> (Week 3-4) - Expand to Test environment (6 instances) - Add one pilot application team - Gather feedback, refine approach</a:t>
            </a:r>
          </a:p>
          <a:p>
            <a:pPr lvl="0" indent="0" marL="0">
              <a:buNone/>
            </a:pPr>
            <a:r>
              <a:rPr b="1"/>
              <a:t>Phase 3: Staged Production</a:t>
            </a:r>
            <a:r>
              <a:rPr/>
              <a:t> (Week 5-8) - Batch 1: 33% of hosts → wait 48 hours - Batch 2: 33% of hosts → wait 48 hours - Batch 3: 34% of hosts → final validation</a:t>
            </a:r>
          </a:p>
          <a:p>
            <a:pPr lvl="0" indent="0" marL="0">
              <a:buNone/>
            </a:pPr>
            <a:r>
              <a:rPr b="1"/>
              <a:t>Phase 4: Full Production</a:t>
            </a:r>
            <a:r>
              <a:rPr/>
              <a:t> (Week 9+) - Complete rollout and optimization - Self-service for new teams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Teams Involved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Roles &amp; Responsibilities</a:t>
            </a:r>
          </a:p>
          <a:p>
            <a:pPr lvl="0" indent="0" marL="0">
              <a:buNone/>
            </a:pPr>
            <a:r>
              <a:rPr b="1"/>
              <a:t>Platform/DevOps Team</a:t>
            </a:r>
            <a:r>
              <a:rPr/>
              <a:t>: - Maintain Terraform and Ansible code - Execute deployments - Provide Level 2 support</a:t>
            </a:r>
          </a:p>
          <a:p>
            <a:pPr lvl="0" indent="0" marL="0">
              <a:buNone/>
            </a:pPr>
            <a:r>
              <a:rPr b="1"/>
              <a:t>Security Team</a:t>
            </a:r>
            <a:r>
              <a:rPr/>
              <a:t>: - API key management - Access control and RBAC - Security compliance validation</a:t>
            </a:r>
          </a:p>
          <a:p>
            <a:pPr lvl="0" indent="0" marL="0">
              <a:buNone/>
            </a:pPr>
            <a:r>
              <a:rPr b="1"/>
              <a:t>Application Teams</a:t>
            </a:r>
            <a:r>
              <a:rPr/>
              <a:t>: - Define monitoring requirements - Create custom dashboards - Validate deployments</a:t>
            </a:r>
          </a:p>
          <a:p>
            <a:pPr lvl="0" indent="0" marL="0">
              <a:buNone/>
            </a:pPr>
            <a:r>
              <a:rPr b="1"/>
              <a:t>SRE Team</a:t>
            </a:r>
            <a:r>
              <a:rPr/>
              <a:t>: - Define SLIs/SLOs - Create alerting strategies - Monitor platform health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 Management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 Risks &amp; Mitigations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/>
                <a:gridCol w="1574800"/>
                <a:gridCol w="236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Agent causes performance 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Batched rollout, testing, quick rollback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API key exposure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Secrets, rotation policy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Deployment 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in lower envs first, automated rollback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Configuration drift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GitOps workflow, Ansible idempotency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 resistance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Early engagement, demonstrate value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Rollback capability</a:t>
            </a:r>
            <a:r>
              <a:rPr/>
              <a:t>: 15 minutes to previous state</a:t>
            </a:r>
          </a:p>
          <a:p>
            <a:pPr lvl="0" indent="0" marL="0">
              <a:buNone/>
            </a:pPr>
            <a:r>
              <a:rPr b="1"/>
              <a:t>Testing strategy</a:t>
            </a:r>
            <a:r>
              <a:rPr/>
              <a:t>: Dev → Test → Prod (never skip)</a:t>
            </a:r>
          </a:p>
          <a:p>
            <a:pPr lvl="0" indent="0" marL="0">
              <a:buNone/>
            </a:pPr>
            <a:r>
              <a:rPr b="1"/>
              <a:t>Blast radius</a:t>
            </a:r>
            <a:r>
              <a:rPr/>
              <a:t>: Batched deployment limits impact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Security-First Design</a:t>
            </a:r>
          </a:p>
          <a:p>
            <a:pPr lvl="0" indent="0" marL="0">
              <a:buNone/>
            </a:pPr>
            <a:r>
              <a:rPr b="1"/>
              <a:t>No Long-Lived Credentials</a:t>
            </a:r>
            <a:r>
              <a:rPr/>
              <a:t>: - AWS access via OIDC (temporary tokens) - Session duration: 1 hour maximum</a:t>
            </a:r>
          </a:p>
          <a:p>
            <a:pPr lvl="0" indent="0" marL="0">
              <a:buNone/>
            </a:pPr>
            <a:r>
              <a:rPr b="1"/>
              <a:t>Encrypted Secrets</a:t>
            </a:r>
            <a:r>
              <a:rPr/>
              <a:t>: - GitHub Secrets for API keys (encrypted at rest) - SSH keys base64-encoded, temporary - Never logged or exposed</a:t>
            </a:r>
          </a:p>
          <a:p>
            <a:pPr lvl="0" indent="0" marL="0">
              <a:buNone/>
            </a:pPr>
            <a:r>
              <a:rPr b="1"/>
              <a:t>Least Privilege</a:t>
            </a:r>
            <a:r>
              <a:rPr/>
              <a:t>: - Minimal IAM permissions - Role-based access control - Audit logging enabled</a:t>
            </a:r>
          </a:p>
          <a:p>
            <a:pPr lvl="0" indent="0" marL="0">
              <a:buNone/>
            </a:pPr>
            <a:r>
              <a:rPr b="1"/>
              <a:t>Network Security</a:t>
            </a:r>
            <a:r>
              <a:rPr/>
              <a:t>: - Agents only outbound (no inbound ports) - TLS 1.2+ encryption in transit - Restricted security groups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Monitoring the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We Ensure Agent Health</a:t>
            </a:r>
          </a:p>
          <a:p>
            <a:pPr lvl="0" indent="0" marL="0">
              <a:buNone/>
            </a:pPr>
            <a:r>
              <a:rPr b="1"/>
              <a:t>Agent Status Monitoring</a:t>
            </a:r>
            <a:r>
              <a:rPr/>
              <a:t>: - Datadog monitors for agent uptime - Alert if agent stops reporting (&gt;5 minutes) - Dashboard showing agent version distribution</a:t>
            </a:r>
          </a:p>
          <a:p>
            <a:pPr lvl="0" indent="0" marL="0">
              <a:buNone/>
            </a:pPr>
            <a:r>
              <a:rPr b="1"/>
              <a:t>Deployment Health</a:t>
            </a:r>
            <a:r>
              <a:rPr/>
              <a:t>: - GitHub Actions success/failure alerts - Terraform plan review before apply - Ansible task failure notifications</a:t>
            </a:r>
          </a:p>
          <a:p>
            <a:pPr lvl="0" indent="0" marL="0">
              <a:buNone/>
            </a:pPr>
            <a:r>
              <a:rPr b="1"/>
              <a:t>Cost Tracking</a:t>
            </a:r>
            <a:r>
              <a:rPr/>
              <a:t>: - AWS Cost Explorer tags - Datadog billing dashboard - Monthly cost reports and optimization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Solution Wins</a:t>
            </a:r>
          </a:p>
          <a:p>
            <a:pPr lvl="0" indent="0" marL="0">
              <a:buNone/>
            </a:pPr>
            <a:r>
              <a:rPr b="1"/>
              <a:t>vs. Manual Deployment</a:t>
            </a:r>
            <a:r>
              <a:rPr/>
              <a:t>: - ✅ 99% faster - ✅ 95% fewer errors - ✅ Scales infinitely - ✅ Complete audit trail</a:t>
            </a:r>
          </a:p>
          <a:p>
            <a:pPr lvl="0" indent="0" marL="0">
              <a:buNone/>
            </a:pPr>
            <a:r>
              <a:rPr b="1"/>
              <a:t>vs. Chef/Puppet</a:t>
            </a:r>
            <a:r>
              <a:rPr/>
              <a:t>: - ✅ Simpler (agentless Ansible) - ✅ Faster to implement - ✅ Lower learning curve</a:t>
            </a:r>
          </a:p>
          <a:p>
            <a:pPr lvl="0" indent="0" marL="0">
              <a:buNone/>
            </a:pPr>
            <a:r>
              <a:rPr b="1"/>
              <a:t>vs. CloudFormation</a:t>
            </a:r>
            <a:r>
              <a:rPr/>
              <a:t>: - ✅ Multi-cloud capable - ✅ Better module ecosystem - ✅ Same tool for all clouds</a:t>
            </a:r>
          </a:p>
          <a:p>
            <a:pPr lvl="0" indent="0" marL="0">
              <a:buNone/>
            </a:pPr>
            <a:r>
              <a:rPr b="1"/>
              <a:t>vs. Bash Scripts</a:t>
            </a:r>
            <a:r>
              <a:rPr/>
              <a:t>: - ✅ Declarative (vs imperative) - ✅ Testable and maintainable - ✅ Industry-standard tools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Success Looks Like</a:t>
            </a:r>
          </a:p>
          <a:p>
            <a:pPr lvl="0" indent="0" marL="0">
              <a:buNone/>
            </a:pPr>
            <a:r>
              <a:rPr b="1"/>
              <a:t>Technical Metrics</a:t>
            </a:r>
            <a:r>
              <a:rPr/>
              <a:t>: - ✅ 99% deployment success rate - ✅ 15-minute average deployment time - ✅ &lt;1% error rate - ✅ 100% infrastructure coverage</a:t>
            </a:r>
          </a:p>
          <a:p>
            <a:pPr lvl="0" indent="0" marL="0">
              <a:buNone/>
            </a:pPr>
            <a:r>
              <a:rPr b="1"/>
              <a:t>Business Metrics</a:t>
            </a:r>
            <a:r>
              <a:rPr/>
              <a:t>: - ✅ 90% reduction in deployment time - ✅ 95% reduction in manual effort - ✅ 4x increase in deployment frequency - ✅ $40K-90K Year 1 ROI</a:t>
            </a:r>
          </a:p>
          <a:p>
            <a:pPr lvl="0" indent="0" marL="0">
              <a:buNone/>
            </a:pPr>
            <a:r>
              <a:rPr b="1"/>
              <a:t>Team Metrics</a:t>
            </a:r>
            <a:r>
              <a:rPr/>
              <a:t>: - ✅ Self-service adoption by application teams - ✅ Reduced on-call burden (faster MTTR) - ✅ Higher confidence in deployments - ✅ Knowledge documented in code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This Special</a:t>
            </a:r>
          </a:p>
          <a:p>
            <a:pPr lvl="0" indent="0" marL="0">
              <a:buNone/>
            </a:pPr>
            <a:r>
              <a:rPr b="1"/>
              <a:t>1. True GitOps</a:t>
            </a:r>
            <a:r>
              <a:rPr/>
              <a:t> - Single source of truth in Git - Every change tracked with author and timestamp - Rollback to any previous state instantly</a:t>
            </a:r>
          </a:p>
          <a:p>
            <a:pPr lvl="0" indent="0" marL="0">
              <a:buNone/>
            </a:pPr>
            <a:r>
              <a:rPr b="1"/>
              <a:t>2. Multi-Environment Consistency</a:t>
            </a:r>
            <a:r>
              <a:rPr/>
              <a:t> - Same code deploys to dev, test, prod - Tested in lower environments first - No “works on my machine” problems</a:t>
            </a:r>
          </a:p>
          <a:p>
            <a:pPr lvl="0" indent="0" marL="0">
              <a:buNone/>
            </a:pPr>
            <a:r>
              <a:rPr b="1"/>
              <a:t>3. Scalable Architecture</a:t>
            </a:r>
            <a:r>
              <a:rPr/>
              <a:t> - 3 hosts or 3,000 - same code - Add features without rewriting - Multi-region and multi-cloud ready</a:t>
            </a:r>
          </a:p>
          <a:p>
            <a:pPr lvl="0" indent="0" marL="0">
              <a:buNone/>
            </a:pPr>
            <a:r>
              <a:rPr b="1"/>
              <a:t>4. Security-First</a:t>
            </a:r>
            <a:r>
              <a:rPr/>
              <a:t> - No hardcoded credentials - Encrypted secrets management - Complete audit trail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Roadmap (Next 12 Months)</a:t>
            </a:r>
          </a:p>
          <a:p>
            <a:pPr lvl="0" indent="0" marL="0">
              <a:buNone/>
            </a:pPr>
            <a:r>
              <a:rPr b="1"/>
              <a:t>Short Term</a:t>
            </a:r>
            <a:r>
              <a:rPr/>
              <a:t> (1-3 months): - Windows Server support - Container monitoring (Docker) - Self-service onboarding portal - Automated agent updates</a:t>
            </a:r>
          </a:p>
          <a:p>
            <a:pPr lvl="0" indent="0" marL="0">
              <a:buNone/>
            </a:pPr>
            <a:r>
              <a:rPr b="1"/>
              <a:t>Medium Term</a:t>
            </a:r>
            <a:r>
              <a:rPr/>
              <a:t> (3-6 months): - Kubernetes integration - Multi-cloud support (Azure, GCP) - Custom metrics collection - SLO tracking and reporting</a:t>
            </a:r>
          </a:p>
          <a:p>
            <a:pPr lvl="0" indent="0" marL="0">
              <a:buNone/>
            </a:pPr>
            <a:r>
              <a:rPr b="1"/>
              <a:t>Long Term</a:t>
            </a:r>
            <a:r>
              <a:rPr/>
              <a:t> (6-12 months): - AI-powered anomaly detection - Auto-remediation for common issues - Cost optimization automation - Service mesh integration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Testimonial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“Before automation, our team spent </a:t>
            </a:r>
            <a:r>
              <a:rPr sz="2000" b="1"/>
              <a:t>50-100 hours</a:t>
            </a:r>
            <a:r>
              <a:rPr sz="2000"/>
              <a:t> manually configuring monitoring across 100 servers. We had a 5-10% error rate and frequent inconsistencies.</a:t>
            </a:r>
          </a:p>
          <a:p>
            <a:pPr lvl="0" indent="0" marL="1270000">
              <a:buNone/>
            </a:pPr>
            <a:r>
              <a:rPr sz="2000"/>
              <a:t>After implementing this solution, we deploy monitoring to </a:t>
            </a:r>
            <a:r>
              <a:rPr sz="2000" b="1"/>
              <a:t>all servers in 15 minutes</a:t>
            </a:r>
            <a:r>
              <a:rPr sz="2000"/>
              <a:t> with &lt;1% errors.</a:t>
            </a:r>
          </a:p>
          <a:p>
            <a:pPr lvl="0" indent="0" marL="1270000">
              <a:buNone/>
            </a:pPr>
            <a:r>
              <a:rPr sz="2000" b="1"/>
              <a:t>Results</a:t>
            </a:r>
            <a:r>
              <a:rPr sz="2000"/>
              <a:t>: - 90% reduction in deployment time - 95% fewer configuration errors - 70% faster incident detection - 50% faster incident resolution</a:t>
            </a:r>
          </a:p>
          <a:p>
            <a:pPr lvl="0" indent="0" marL="1270000">
              <a:buNone/>
            </a:pPr>
            <a:r>
              <a:rPr sz="2000" b="1"/>
              <a:t>ROI</a:t>
            </a:r>
            <a:r>
              <a:rPr sz="2000"/>
              <a:t>: Solution paid for itself in 2-3 months and saves us $50K-100K annually.</a:t>
            </a:r>
          </a:p>
          <a:p>
            <a:pPr lvl="0" indent="0" marL="1270000">
              <a:buNone/>
            </a:pPr>
            <a:r>
              <a:rPr sz="2000"/>
              <a:t>More importantly, we now have </a:t>
            </a:r>
            <a:r>
              <a:rPr sz="2000" b="1"/>
              <a:t>complete visibility</a:t>
            </a:r>
            <a:r>
              <a:rPr sz="2000"/>
              <a:t> into our infrastructure 24/7, which has </a:t>
            </a:r>
            <a:r>
              <a:rPr sz="2000" b="1"/>
              <a:t>prevented multiple potential outages</a:t>
            </a:r>
            <a:r>
              <a:rPr sz="2000"/>
              <a:t>.”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Questions</a:t>
            </a:r>
          </a:p>
          <a:p>
            <a:pPr lvl="0" indent="0" marL="0">
              <a:buNone/>
            </a:pPr>
            <a:r>
              <a:rPr b="1"/>
              <a:t>Q: How long does deployment take?</a:t>
            </a:r>
            <a:r>
              <a:rPr/>
              <a:t> A: 15 minutes for any number of hosts. Production uses batched deployment for risk mitigation.</a:t>
            </a:r>
          </a:p>
          <a:p>
            <a:pPr lvl="0" indent="0" marL="0">
              <a:buNone/>
            </a:pPr>
            <a:r>
              <a:rPr b="1"/>
              <a:t>Q: What if an agent breaks something?</a:t>
            </a:r>
            <a:r>
              <a:rPr/>
              <a:t> A: &lt;1% CPU, ~200MB RAM footprint. Automated 15-minute rollback available.</a:t>
            </a:r>
          </a:p>
          <a:p>
            <a:pPr lvl="0" indent="0" marL="0">
              <a:buNone/>
            </a:pPr>
            <a:r>
              <a:rPr b="1"/>
              <a:t>Q: How do you secure API keys?</a:t>
            </a:r>
            <a:r>
              <a:rPr/>
              <a:t> A: GitHub Secrets (encrypted), never logged, 90-day rotation, OIDC for AWS.</a:t>
            </a:r>
          </a:p>
          <a:p>
            <a:pPr lvl="0" indent="0" marL="0">
              <a:buNone/>
            </a:pPr>
            <a:r>
              <a:rPr b="1"/>
              <a:t>Q: Can this work with Windows?</a:t>
            </a:r>
            <a:r>
              <a:rPr/>
              <a:t> A: Yes. Ansible has Windows-specific modules. Same workflow.</a:t>
            </a:r>
          </a:p>
          <a:p>
            <a:pPr lvl="0" indent="0" marL="0">
              <a:buNone/>
            </a:pPr>
            <a:r>
              <a:rPr b="1"/>
              <a:t>Q: How does this scale to 10,000 hosts?</a:t>
            </a:r>
            <a:r>
              <a:rPr/>
              <a:t> A: Ansible batching, dynamic inventory, AMI baking. Same code, optimized execution.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 indent="0" marL="0">
              <a:buNone/>
            </a:pPr>
            <a:r>
              <a:rPr b="1"/>
              <a:t>For Decision Makers</a:t>
            </a:r>
            <a:r>
              <a:rPr/>
              <a:t>: - 📊 Review detailed ROI in VALUE_PROPOSITION.md - 📅 Schedule 30-minute technical deep dive - 💰 Calculate your specific ROI (usually $50K-100K/year)</a:t>
            </a:r>
          </a:p>
          <a:p>
            <a:pPr lvl="0" indent="0" marL="0">
              <a:buNone/>
            </a:pPr>
            <a:r>
              <a:rPr b="1"/>
              <a:t>For Technical Teams</a:t>
            </a:r>
            <a:r>
              <a:rPr/>
              <a:t>: - 💻 Review code in GitHub repository - 🔬 Test deployment in your environment - 📖 Read ARCHITECTURE.md for technical details</a:t>
            </a:r>
          </a:p>
          <a:p>
            <a:pPr lvl="0" indent="0" marL="0">
              <a:buNone/>
            </a:pPr>
            <a:r>
              <a:rPr b="1"/>
              <a:t>For Project Managers</a:t>
            </a:r>
            <a:r>
              <a:rPr/>
              <a:t>: - 📋 Review DEPLOYMENT_PLAN.md for rollout strategy - 👥 Identify stakeholders and teams - 📈 Define success metrics for your organization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POC can start next week. Production in 5-8 weeks.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/>
              <a:t>📄 </a:t>
            </a:r>
            <a:r>
              <a:rPr b="1"/>
              <a:t>DEPLOYMENT_PLAN.md</a:t>
            </a:r>
            <a:r>
              <a:rPr/>
              <a:t> - POC to Production roadmap</a:t>
            </a:r>
          </a:p>
          <a:p>
            <a:pPr lvl="0"/>
            <a:r>
              <a:rPr/>
              <a:t>🏗️ </a:t>
            </a:r>
            <a:r>
              <a:rPr b="1"/>
              <a:t>ARCHITECTURE.md</a:t>
            </a:r>
            <a:r>
              <a:rPr/>
              <a:t> - Technical deep dive</a:t>
            </a:r>
          </a:p>
          <a:p>
            <a:pPr lvl="0"/>
            <a:r>
              <a:rPr/>
              <a:t>🎬 </a:t>
            </a:r>
            <a:r>
              <a:rPr b="1"/>
              <a:t>DEMO_SCRIPT.md</a:t>
            </a:r>
            <a:r>
              <a:rPr/>
              <a:t> - Presentation guide</a:t>
            </a:r>
          </a:p>
          <a:p>
            <a:pPr lvl="0"/>
            <a:r>
              <a:rPr/>
              <a:t>💰 </a:t>
            </a:r>
            <a:r>
              <a:rPr b="1"/>
              <a:t>VALUE_PROPOSITION.md</a:t>
            </a:r>
            <a:r>
              <a:rPr/>
              <a:t> - Business case &amp; ROI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Repository</a:t>
            </a:r>
          </a:p>
          <a:p>
            <a:pPr lvl="0"/>
            <a:r>
              <a:rPr/>
              <a:t>GitHub: [Your Repository URL]</a:t>
            </a:r>
          </a:p>
          <a:p>
            <a:pPr lvl="0"/>
            <a:r>
              <a:rPr/>
              <a:t>Terraform: </a:t>
            </a:r>
            <a:r>
              <a:rPr>
                <a:latin typeface="Courier"/>
              </a:rPr>
              <a:t>terraform/</a:t>
            </a:r>
          </a:p>
          <a:p>
            <a:pPr lvl="0"/>
            <a:r>
              <a:rPr/>
              <a:t>Ansible: </a:t>
            </a:r>
            <a:r>
              <a:rPr>
                <a:latin typeface="Courier"/>
              </a:rPr>
              <a:t>ansible/roles/datadog-agent/</a:t>
            </a:r>
          </a:p>
          <a:p>
            <a:pPr lvl="0"/>
            <a:r>
              <a:rPr/>
              <a:t>Workflows: </a:t>
            </a:r>
            <a:r>
              <a:rPr>
                <a:latin typeface="Courier"/>
              </a:rPr>
              <a:t>.github/workflows/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Follow-Up</a:t>
            </a:r>
          </a:p>
          <a:p>
            <a:pPr lvl="0" indent="0" marL="0">
              <a:buNone/>
            </a:pPr>
            <a:r>
              <a:rPr b="1"/>
              <a:t>Email</a:t>
            </a:r>
            <a:r>
              <a:rPr/>
              <a:t>: [your.email@company.com] </a:t>
            </a:r>
            <a:r>
              <a:rPr b="1"/>
              <a:t>Slack</a:t>
            </a:r>
            <a:r>
              <a:rPr/>
              <a:t>: #datadog-deployment </a:t>
            </a:r>
            <a:r>
              <a:rPr b="1"/>
              <a:t>Office Hours</a:t>
            </a:r>
            <a:r>
              <a:rPr/>
              <a:t>: [Time] every [Day]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Key Takeaways</a:t>
            </a:r>
            <a:r>
              <a:rPr/>
              <a:t>: - ✅ </a:t>
            </a:r>
            <a:r>
              <a:rPr b="1"/>
              <a:t>99% faster</a:t>
            </a:r>
            <a:r>
              <a:rPr/>
              <a:t> than manual deployment - ✅ </a:t>
            </a:r>
            <a:r>
              <a:rPr b="1"/>
              <a:t>95% fewer errors</a:t>
            </a:r>
            <a:r>
              <a:rPr/>
              <a:t> through automation - ✅ </a:t>
            </a:r>
            <a:r>
              <a:rPr b="1"/>
              <a:t>$40K-90K ROI</a:t>
            </a:r>
            <a:r>
              <a:rPr/>
              <a:t> in Year 1 - ✅ </a:t>
            </a:r>
            <a:r>
              <a:rPr b="1"/>
              <a:t>2-3 month</a:t>
            </a:r>
            <a:r>
              <a:rPr/>
              <a:t> payback period - ✅ </a:t>
            </a:r>
            <a:r>
              <a:rPr b="1"/>
              <a:t>Scales infinitely</a:t>
            </a:r>
            <a:r>
              <a:rPr/>
              <a:t> with same code</a:t>
            </a:r>
          </a:p>
          <a:p>
            <a:pPr lvl="0" indent="0" marL="0">
              <a:buNone/>
            </a:pPr>
            <a:r>
              <a:rPr b="1"/>
              <a:t>Remember</a:t>
            </a:r>
            <a:r>
              <a:rPr/>
              <a:t>: &gt; “One git commit deploys complete monitoring infrastructure to any number of servers in 15 minutes.”</a:t>
            </a:r>
          </a:p>
          <a:p>
            <a:pPr lvl="0" indent="0" marL="0">
              <a:buNone/>
            </a:pPr>
            <a:r>
              <a:rPr b="1"/>
              <a:t>Let’s discuss how this can work in your environment.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if needed during Q&amp;A</a:t>
            </a:r>
          </a:p>
          <a:p>
            <a:pPr lvl="0"/>
            <a:r>
              <a:rPr/>
              <a:t>Detailed architecture diagrams</a:t>
            </a:r>
          </a:p>
          <a:p>
            <a:pPr lvl="0"/>
            <a:r>
              <a:rPr/>
              <a:t>Security compliance documentation</a:t>
            </a:r>
          </a:p>
          <a:p>
            <a:pPr lvl="0"/>
            <a:r>
              <a:rPr/>
              <a:t>Performance benchmarks</a:t>
            </a:r>
          </a:p>
          <a:p>
            <a:pPr lvl="0"/>
            <a:r>
              <a:rPr/>
              <a:t>Disaster recovery procedures</a:t>
            </a:r>
          </a:p>
          <a:p>
            <a:pPr lvl="0"/>
            <a:r>
              <a:rPr/>
              <a:t>Cost breakdown by component</a:t>
            </a:r>
          </a:p>
          <a:p>
            <a:pPr lvl="0" indent="0" marL="0">
              <a:buNone/>
            </a:pPr>
            <a:r>
              <a:rPr b="1"/>
              <a:t>See documentation for complete details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2025-11-06T00:56:19Z</dcterms:created>
  <dcterms:modified xsi:type="dcterms:W3CDTF">2025-11-06T00:56:19Z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